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4630400" cy="82296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40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400" cy="476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6080" cy="82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0"/>
          <p:cNvSpPr/>
          <p:nvPr/>
        </p:nvSpPr>
        <p:spPr>
          <a:xfrm>
            <a:off x="0" y="0"/>
            <a:ext cx="14626080" cy="8225280"/>
          </a:xfrm>
          <a:prstGeom prst="rect">
            <a:avLst/>
          </a:prstGeom>
          <a:solidFill>
            <a:srgbClr val="eee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18280" cy="4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3040" cy="136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3040" cy="476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video" Target="file:///home/khamzat/&#1042;&#1080;&#1076;&#1077;&#1086;/&#1047;&#1072;&#1087;&#1080;&#1089;&#1080; &#1101;&#1082;&#1088;&#1072;&#1085;&#1072;/2025-06-11 21-32-08.mp4" TargetMode="External"/><Relationship Id="rId2" Type="http://schemas.microsoft.com/office/2007/relationships/media" Target="file:///home/khamzat/&#1042;&#1080;&#1076;&#1077;&#1086;/&#1047;&#1072;&#1087;&#1080;&#1089;&#1080; &#1101;&#1082;&#1088;&#1072;&#1085;&#1072;/2025-06-11 21-32-08.mp4" TargetMode="External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360000" y="180000"/>
            <a:ext cx="3236760" cy="323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/>
          <p:nvPr/>
        </p:nvSpPr>
        <p:spPr>
          <a:xfrm>
            <a:off x="2700000" y="3060000"/>
            <a:ext cx="9536760" cy="17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Проектирование и разработка системы автоматизации документооборота для ГБПОУ «Грозненский государственный колледж информационных технологий»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360800" y="7020000"/>
            <a:ext cx="403596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Ганукаев Хамзат Абубакарович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И1 21-41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360000" y="6840000"/>
            <a:ext cx="896760" cy="89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 descr=""/>
          <p:cNvPicPr/>
          <p:nvPr/>
        </p:nvPicPr>
        <p:blipFill>
          <a:blip r:embed="rId3"/>
          <a:stretch/>
        </p:blipFill>
        <p:spPr>
          <a:xfrm>
            <a:off x="10980000" y="540000"/>
            <a:ext cx="2854080" cy="203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1801800" y="4500000"/>
            <a:ext cx="11337120" cy="197712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 anchorCtr="1">
            <a:noAutofit/>
          </a:bodyPr>
          <a:p>
            <a:pPr marL="360000" algn="ctr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Система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автоматизации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документооборота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обеспечивает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оптимизацию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работы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с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документами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880000" y="900720"/>
            <a:ext cx="10257480" cy="125712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7800" rIns="127800" tIns="82800" bIns="828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Цель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: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разработка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ПО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для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ГБПОУ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«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ГГКИТ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»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620000" y="2701080"/>
            <a:ext cx="10438200" cy="143784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7800" rIns="127800" tIns="82800" bIns="82800" anchor="ctr">
            <a:noAutofit/>
          </a:bodyPr>
          <a:p>
            <a:pPr algn="just" defTabSz="457200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Актуальность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: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рост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документооборота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,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необходимость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минимизации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ошибок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и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потерь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620000" y="1000440"/>
            <a:ext cx="977760" cy="97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12240000" y="2701800"/>
            <a:ext cx="1257120" cy="125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4933440" y="286920"/>
            <a:ext cx="496440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ЗАДАЧИ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ПРОЕКТА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800000" y="1080000"/>
            <a:ext cx="1077840" cy="1077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11340000" y="2160000"/>
            <a:ext cx="1077840" cy="107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3"/>
          <a:stretch/>
        </p:blipFill>
        <p:spPr>
          <a:xfrm>
            <a:off x="1800000" y="3240000"/>
            <a:ext cx="1077840" cy="107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/>
          <p:nvPr/>
        </p:nvSpPr>
        <p:spPr>
          <a:xfrm>
            <a:off x="3060000" y="1260000"/>
            <a:ext cx="5397840" cy="89784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pPr defTabSz="457200">
              <a:lnSpc>
                <a:spcPct val="100000"/>
              </a:lnSpc>
              <a:spcBef>
                <a:spcPts val="641"/>
              </a:spcBef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Исследовать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предметную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область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500000" y="2340000"/>
            <a:ext cx="6657840" cy="8978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 anchorCtr="1">
            <a:noAutofit/>
          </a:bodyPr>
          <a:p>
            <a:pPr defTabSz="457200">
              <a:lnSpc>
                <a:spcPct val="100000"/>
              </a:lnSpc>
              <a:spcBef>
                <a:spcPts val="641"/>
              </a:spcBef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Проанализировать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существующие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системы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060000" y="3420000"/>
            <a:ext cx="7557840" cy="89784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 defTabSz="457200">
              <a:lnSpc>
                <a:spcPct val="100000"/>
              </a:lnSpc>
              <a:spcBef>
                <a:spcPts val="641"/>
              </a:spcBef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Охарактеризовать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документооборот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в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колледже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480000" y="4500000"/>
            <a:ext cx="4677840" cy="8978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 anchorCtr="1">
            <a:noAutofit/>
          </a:bodyPr>
          <a:p>
            <a:pPr algn="r" defTabSz="457200">
              <a:lnSpc>
                <a:spcPct val="100000"/>
              </a:lnSpc>
              <a:spcBef>
                <a:spcPts val="641"/>
              </a:spcBef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Спроектировать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архитектуру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060000" y="5580000"/>
            <a:ext cx="6297840" cy="89784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pPr defTabSz="457200">
              <a:lnSpc>
                <a:spcPct val="100000"/>
              </a:lnSpc>
              <a:spcBef>
                <a:spcPts val="641"/>
              </a:spcBef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Реализовать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интерфейс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и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базу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данных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200000" y="6660000"/>
            <a:ext cx="3957840" cy="8978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pPr defTabSz="457200">
              <a:lnSpc>
                <a:spcPct val="100000"/>
              </a:lnSpc>
              <a:spcBef>
                <a:spcPts val="641"/>
              </a:spcBef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Провести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тестирование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4"/>
          <a:stretch/>
        </p:blipFill>
        <p:spPr>
          <a:xfrm>
            <a:off x="1685160" y="5400000"/>
            <a:ext cx="1192680" cy="119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5"/>
          <a:stretch/>
        </p:blipFill>
        <p:spPr>
          <a:xfrm>
            <a:off x="11340000" y="4373640"/>
            <a:ext cx="1204200" cy="12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6"/>
          <a:stretch/>
        </p:blipFill>
        <p:spPr>
          <a:xfrm>
            <a:off x="11340000" y="6533640"/>
            <a:ext cx="1024200" cy="102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3060000" y="286920"/>
            <a:ext cx="881784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Обоснование необходимости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00000" y="1260000"/>
            <a:ext cx="6297840" cy="35978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7800" rIns="127800" tIns="82800" bIns="828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819800" y="1620000"/>
            <a:ext cx="429804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Традиционные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система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620000" y="2340000"/>
            <a:ext cx="3597840" cy="538920"/>
          </a:xfrm>
          <a:prstGeom prst="roundRect">
            <a:avLst>
              <a:gd name="adj" fmla="val 16667"/>
            </a:avLst>
          </a:prstGeom>
          <a:solidFill>
            <a:srgbClr val="b3c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низкая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скорость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620000" y="3060000"/>
            <a:ext cx="4317840" cy="53784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риск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потери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данных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620000" y="3780000"/>
            <a:ext cx="5037840" cy="5378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ошибки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и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дублирование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740000" y="3420000"/>
            <a:ext cx="6297840" cy="359784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839800" y="3780000"/>
            <a:ext cx="429804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Новая система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460000" y="4500000"/>
            <a:ext cx="4677840" cy="537840"/>
          </a:xfrm>
          <a:prstGeom prst="roundRect">
            <a:avLst>
              <a:gd name="adj" fmla="val 16667"/>
            </a:avLst>
          </a:prstGeom>
          <a:solidFill>
            <a:srgbClr val="b3ca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 минимизация ошибок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460000" y="5220000"/>
            <a:ext cx="4497840" cy="53784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 повышение скорости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8460000" y="5940000"/>
            <a:ext cx="5217840" cy="5378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 удобство использования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4860000" y="423720"/>
            <a:ext cx="674964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Архитектура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 </a:t>
            </a: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Source Code Pro Medium"/>
              </a:rPr>
              <a:t>системы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360000" y="1440000"/>
            <a:ext cx="6478920" cy="629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5040000" y="1800720"/>
            <a:ext cx="8998920" cy="23382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pPr marL="144000" algn="just">
              <a:lnSpc>
                <a:spcPct val="100000"/>
              </a:lnSpc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Клиент-серверная архитектура: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algn="just">
              <a:lnSpc>
                <a:spcPct val="100000"/>
              </a:lnSpc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Ключевая модель, обеспечивающая стабильную и масштабируемую работу системы. Она позволяет разделить логику приложения на две части: клиентскую и серверную.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840000" y="4680720"/>
            <a:ext cx="7198200" cy="2338200"/>
          </a:xfrm>
          <a:prstGeom prst="roundRect">
            <a:avLst>
              <a:gd name="adj" fmla="val 16667"/>
            </a:avLst>
          </a:prstGeom>
          <a:solidFill>
            <a:srgbClr val="8e86ae"/>
          </a:solidFill>
          <a:ln cap="rnd" w="76320">
            <a:solidFill>
              <a:srgbClr val="bf819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7800" rIns="127800" tIns="82800" bIns="82800" anchor="ctr">
            <a:noAutofit/>
          </a:bodyPr>
          <a:p>
            <a:pPr marL="144000" algn="just">
              <a:lnSpc>
                <a:spcPct val="100000"/>
              </a:lnSpc>
              <a:spcAft>
                <a:spcPts val="850"/>
              </a:spcAft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Source Code Pro Medium"/>
              </a:rPr>
              <a:t>Плюсы Клиент-серверная архитектура: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4000" algn="just">
              <a:lnSpc>
                <a:spcPct val="100000"/>
              </a:lnSpc>
            </a:pPr>
            <a:r>
              <a:rPr b="0" lang="ru-RU" sz="2200" strike="noStrike" u="none">
                <a:solidFill>
                  <a:srgbClr val="ffffff"/>
                </a:solidFill>
                <a:effectLst/>
                <a:uFillTx/>
                <a:latin typeface="Source Code Pro Medium"/>
              </a:rPr>
              <a:t> + централизованное хранение данных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4000" algn="just">
              <a:lnSpc>
                <a:spcPct val="100000"/>
              </a:lnSpc>
            </a:pPr>
            <a:r>
              <a:rPr b="0" lang="ru-RU" sz="2200" strike="noStrike" u="none">
                <a:solidFill>
                  <a:srgbClr val="ffffff"/>
                </a:solidFill>
                <a:effectLst/>
                <a:uFillTx/>
                <a:latin typeface="Source Code Pro Medium"/>
              </a:rPr>
              <a:t> + удобное масштабирование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4000" algn="just">
              <a:lnSpc>
                <a:spcPct val="100000"/>
              </a:lnSpc>
            </a:pPr>
            <a:r>
              <a:rPr b="0" lang="ru-RU" sz="2200" strike="noStrike" u="none">
                <a:solidFill>
                  <a:srgbClr val="ffffff"/>
                </a:solidFill>
                <a:effectLst/>
                <a:uFillTx/>
                <a:latin typeface="Source Code Pro Medium"/>
              </a:rPr>
              <a:t> + упрощённое управление доступом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1800000" y="286920"/>
            <a:ext cx="698832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Выбранные технологий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180000" y="1080000"/>
            <a:ext cx="1618200" cy="161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12960000" y="3060000"/>
            <a:ext cx="143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3"/>
          <a:stretch/>
        </p:blipFill>
        <p:spPr>
          <a:xfrm>
            <a:off x="360000" y="4666680"/>
            <a:ext cx="1271520" cy="12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1800000" y="1260000"/>
            <a:ext cx="10978200" cy="12582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Язык программирования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Python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— высокоуровневый язык программирования с динамической типизацией, автоматическим управлением памятью и отличной читаемостью кода.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4"/>
          <a:stretch/>
        </p:blipFill>
        <p:spPr>
          <a:xfrm>
            <a:off x="12780000" y="6120000"/>
            <a:ext cx="1618200" cy="161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1800000" y="2880000"/>
            <a:ext cx="10978200" cy="1798200"/>
          </a:xfrm>
          <a:prstGeom prst="roundRect">
            <a:avLst>
              <a:gd name="adj" fmla="val 16667"/>
            </a:avLst>
          </a:prstGeom>
          <a:solidFill>
            <a:srgbClr val="8e86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Aft>
                <a:spcPts val="1417"/>
              </a:spcAft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Source Code Pro Medium"/>
                <a:ea typeface="Noto Sans CJK SC"/>
              </a:rPr>
              <a:t>Библиотеки: PyQt6 / PySide6 для GUI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ru-RU" sz="1800" strike="noStrike" u="none">
                <a:solidFill>
                  <a:srgbClr val="ffffff"/>
                </a:solidFill>
                <a:effectLst/>
                <a:uFillTx/>
                <a:latin typeface="Source Code Pro Medium"/>
                <a:ea typeface="Noto Sans CJK SC"/>
              </a:rPr>
              <a:t>PyQt</a:t>
            </a: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Source Code Pro Medium"/>
                <a:ea typeface="Noto Sans CJK SC"/>
              </a:rPr>
              <a:t> — биндинги Qt для Python. Поддерживает Windows, Linux, macOS.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ru-RU" sz="1800" strike="noStrike" u="none">
                <a:solidFill>
                  <a:srgbClr val="ffffff"/>
                </a:solidFill>
                <a:effectLst/>
                <a:uFillTx/>
                <a:latin typeface="Source Code Pro Medium"/>
                <a:ea typeface="Noto Sans CJK SC"/>
              </a:rPr>
              <a:t>PySide</a:t>
            </a: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Source Code Pro Medium"/>
                <a:ea typeface="Noto Sans CJK SC"/>
              </a:rPr>
              <a:t> — совместимые биндинги Qt под LGPL, подходят для коммерческого использования.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800000" y="4860000"/>
            <a:ext cx="10978200" cy="1078200"/>
          </a:xfrm>
          <a:prstGeom prst="roundRect">
            <a:avLst>
              <a:gd name="adj" fmla="val 16667"/>
            </a:avLst>
          </a:prstGeom>
          <a:solidFill>
            <a:srgbClr val="ffde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База данных: PostgreSQL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PostgreSQL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 — свободная объектно-реляционная система управления базами данных.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800000" y="6106680"/>
            <a:ext cx="10978200" cy="1451520"/>
          </a:xfrm>
          <a:prstGeom prst="roundRect">
            <a:avLst>
              <a:gd name="adj" fmla="val 16667"/>
            </a:avLst>
          </a:prstGeom>
          <a:solidFill>
            <a:srgbClr val="ffe9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Среда разработки: Qt Creator, Qt Designer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Source Code Pro Medium"/>
                <a:ea typeface="Noto Sans CJK SC"/>
              </a:rPr>
              <a:t>Среда разработки, включающая Qt Creator и Qt Designer, обеспечила удобное проектирование интерфейсов и эффективную реализацию функционала программы.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7020000" y="171000"/>
            <a:ext cx="6888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40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Интерфейс приложения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9720000" y="1271880"/>
            <a:ext cx="4399200" cy="446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360000" y="1080000"/>
            <a:ext cx="4378320" cy="467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3"/>
          <a:stretch/>
        </p:blipFill>
        <p:spPr>
          <a:xfrm>
            <a:off x="5040000" y="1080000"/>
            <a:ext cx="4396320" cy="46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1800000" y="6300000"/>
            <a:ext cx="10798920" cy="125892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При запуске приложения пользователю представляется стандартное окно авторизации с возможностью ввода логина и пароля, включая уведомление об ошибке в случае неверного ввода.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7920000" y="85680"/>
            <a:ext cx="6118560" cy="7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36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Интерфейс приложения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rcRect l="0" t="0" r="0" b="2598"/>
          <a:stretch/>
        </p:blipFill>
        <p:spPr>
          <a:xfrm>
            <a:off x="2968560" y="805320"/>
            <a:ext cx="10890360" cy="69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540000" y="2700000"/>
            <a:ext cx="6118920" cy="3058920"/>
          </a:xfrm>
          <a:prstGeom prst="roundRect">
            <a:avLst>
              <a:gd name="adj" fmla="val 16667"/>
            </a:avLst>
          </a:prstGeom>
          <a:solidFill>
            <a:srgbClr val="9bb5f0"/>
          </a:solidFill>
          <a:ln cap="rnd" w="5724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Главное окно приложения содержит удобное навигационное меню для переключения между вкладками, список актуальных документов с кнопкой обновления содержимого, блок для фильтрации и поиска, а также кнопку для создания нового документа.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3240000" y="360000"/>
            <a:ext cx="917892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На последующих слайдах представлены демонстрации диалоговых окон, интегрированных в приложение.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8112960" y="1422360"/>
            <a:ext cx="4845960" cy="523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1620000" y="1441440"/>
            <a:ext cx="4864680" cy="521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7920000" y="5940000"/>
            <a:ext cx="5398920" cy="1618920"/>
          </a:xfrm>
          <a:prstGeom prst="roundRect">
            <a:avLst>
              <a:gd name="adj" fmla="val 16667"/>
            </a:avLst>
          </a:prstGeom>
          <a:solidFill>
            <a:srgbClr val="bf819e"/>
          </a:solidFill>
          <a:ln cap="rnd" w="76320">
            <a:solidFill>
              <a:srgbClr val="8e86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Source Code Pro Medium"/>
              </a:rPr>
              <a:t>Диалоговое окно, предоставляющее возможность загрузки документа из системы в исходном формате или в формате PDF.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260000" y="6120000"/>
            <a:ext cx="5398920" cy="14389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Диалоговое окно, предназначенное для создания и сохранения нового документа в системе.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604520" y="900000"/>
            <a:ext cx="4874400" cy="524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260000" y="5760000"/>
            <a:ext cx="5398920" cy="14389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Диалоговое окно, предназначенное для удаления документа в системе.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8273880" y="900000"/>
            <a:ext cx="4865040" cy="524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7920000" y="5940000"/>
            <a:ext cx="5578920" cy="1618920"/>
          </a:xfrm>
          <a:prstGeom prst="roundRect">
            <a:avLst>
              <a:gd name="adj" fmla="val 16667"/>
            </a:avLst>
          </a:prstGeom>
          <a:solidFill>
            <a:srgbClr val="bf819e"/>
          </a:solidFill>
          <a:ln cap="rnd" w="76320">
            <a:solidFill>
              <a:srgbClr val="8e86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Source Code Pro Medium"/>
              </a:rPr>
              <a:t>Диалоговое окно, позволяющее редактировать данные пользователя или удалять их при необходимости.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3397680" y="540000"/>
            <a:ext cx="10821600" cy="70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"/>
          <p:cNvSpPr/>
          <p:nvPr/>
        </p:nvSpPr>
        <p:spPr>
          <a:xfrm>
            <a:off x="360000" y="2880000"/>
            <a:ext cx="5219280" cy="2699280"/>
          </a:xfrm>
          <a:prstGeom prst="roundRect">
            <a:avLst>
              <a:gd name="adj" fmla="val 16667"/>
            </a:avLst>
          </a:prstGeom>
          <a:solidFill>
            <a:srgbClr val="bf819e"/>
          </a:solidFill>
          <a:ln cap="rnd" w="76320">
            <a:solidFill>
              <a:srgbClr val="8e86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Source Code Pro Medium"/>
              </a:rPr>
              <a:t>Окно управления пользователями содержит удобное навигационное меню, список учетных записей с данными пользователей, панель для их редактирования и кнопки для подтверждения изменений и управления доступом.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80000" y="-146880"/>
            <a:ext cx="14981040" cy="842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540000" y="459000"/>
            <a:ext cx="1259964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36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Проверка отдельных модулей с помощью unittest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7014960" cy="581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7380000" y="2880000"/>
            <a:ext cx="6659640" cy="30596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cap="rnd" w="76320">
            <a:solidFill>
              <a:srgbClr val="3465a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Результаты тестирования демонстрируют успешное прохождение 29 модульных тестов, охватывающих создание и обработку документов, работу с пользователями, шаблонами и строковыми операциями, что подтверждает стабильность и корректность работы основных компонентов системы.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1620360" y="3060000"/>
            <a:ext cx="1079640" cy="10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4500000" y="5220000"/>
            <a:ext cx="1259640" cy="12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3"/>
          <a:stretch/>
        </p:blipFill>
        <p:spPr>
          <a:xfrm>
            <a:off x="540000" y="755280"/>
            <a:ext cx="1224720" cy="122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4"/>
          <a:stretch/>
        </p:blipFill>
        <p:spPr>
          <a:xfrm>
            <a:off x="12420000" y="1260000"/>
            <a:ext cx="1262520" cy="126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5"/>
          <a:stretch/>
        </p:blipFill>
        <p:spPr>
          <a:xfrm>
            <a:off x="10080000" y="5040000"/>
            <a:ext cx="1259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"/>
          <p:cNvSpPr txBox="1"/>
          <p:nvPr/>
        </p:nvSpPr>
        <p:spPr>
          <a:xfrm>
            <a:off x="3420000" y="2520000"/>
            <a:ext cx="846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ru-RU" sz="5400" strike="noStrike" u="none">
                <a:solidFill>
                  <a:srgbClr val="000000"/>
                </a:solidFill>
                <a:effectLst/>
                <a:uFillTx/>
                <a:latin typeface="Source Code Pro Medium"/>
              </a:rPr>
              <a:t>Спасибо за внимание!</a:t>
            </a:r>
            <a:endParaRPr b="0" lang="ru-RU" sz="5400" strike="noStrike" u="none">
              <a:solidFill>
                <a:srgbClr val="000000"/>
              </a:solidFill>
              <a:effectLst/>
              <a:uFillTx/>
              <a:latin typeface="Source Code Pro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Application>LibreOffice/25.2.4.3$Linux_X86_64 LibreOffice_project/520$Build-3</Application>
  <AppVersion>15.0000</AppVersion>
  <Words>497</Words>
  <Paragraphs>75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2025-05-19T17:39:58Z</dcterms:created>
  <dc:creator>PptxGenJS</dc:creator>
  <dc:description/>
  <dc:language>ru-RU</dc:language>
  <cp:lastModifiedBy/>
  <dcterms:modified xsi:type="dcterms:W3CDTF">2025-06-13T04:52:33Z</dcterms:modified>
  <cp:revision>34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Произвольный</vt:lpwstr>
  </property>
  <property fmtid="{D5CDD505-2E9C-101B-9397-08002B2CF9AE}" pid="4" name="Slides">
    <vt:i4>9</vt:i4>
  </property>
</Properties>
</file>